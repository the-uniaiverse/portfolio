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State the promise and the rule: nothing is 'just' anything. Mixed room: leaders decide, analysts frame, engineers build — every lab has a no-code path and a code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wall poster with the master analogy: the brilliant new colleague who has never worked here. Everything maps to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start with theory. The failures on the flipchart are the curriculum — we return to them at the close of Day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Phone autocomplete demo. Then the exam-hall analogy: a person who read 10,000 books, in a room with no books, asked for the number on page 247.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key is configured, ask live about the client's own policy. If not, the recorded exchange shows the identical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Tokenise a sentence live. The numbers move every quarter; the shape of the argument doesn't.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 number they'll repeat to their boss. Say it slowly.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Whiteboard the formula before running the script. Ask: which of these lines does your dashboard show?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Exercise sheet page 1. Walk the room; the most common mistake is forgetting output tokens.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Earn your way up. An agent does not fix bad retrieval — it repeats it five times at five times the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 bare chunk aloud: 'The amount shall be recognised evenly…' — nobody knows what it's about. Add the prefix and it becomes findable.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Watch the scoreboard go 3 → 5. Point at the DRAFT document being demoted by the reranker — 'old cards survive' unless you handle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slide up. Count how often 'not found' happens: that number is a direct measure of library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change at a time — enforce it. This is where the course clicks: their own score goes up because of a decision they made.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Handout: the fault-finding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loop on the whiteboard, drawn slowly. Then the warning: ALWAYS with a limit, or it runs forever.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these, one badly-worded question can loop for twenty minutes and cost more than the month. Demo 5 hits every rail.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 15-person business, an agent is rarely the answer in year one. The wins are: a grounded assistant on your documents, one automated workflow, and everyone using AI tools properly. Agents come when a workflow crosses three systems and nobody wants to babysit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gate: issue_refund is the only tool that changes the world, and it's the only one behind a human.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up a level only when you hit a wall you can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 of payoff: caching → routing → batch → output limits → rerank 50 not 500 → quantised indexes.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4: apply three of these to the Lab 1 sheet.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uniAIverse strategy tool live with a table's use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7 runs the engines on two workflows and three use cases — the same arithmetic Lab 5 does on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free/education tiers: NotebookLM, Dify cloud free, n8n cloud trial, ChatGPT/Claude/Gemini business seats and what they actually cost per month. The $42 bot. Show the automation ROI engine on their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Then show the PDF the tool produces — that's the deliverable a client receives.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legal advice; framework-aligned. The governance tool generates the policy and the gap assessment.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Exercise sheet page 5. Push every table to something narrow. 'Everything' is not a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two-week check: at least one plan with an owner and a date. Offer the readiness snapshot and a follow-up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AI for Growing Businesses — 1 day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65176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6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Founders, managers and their key staff (up to 15); little or no technical background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two days run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 AM — how it actually works (tokens, cost, models)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 PM — the RAG ladder: basic → advanced → hybrid → agentic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 AM — agents that don't run away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 PM — strategy, optimisation, ROI, your 90-day plan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labs. Every table leaves with a bot, an agent and a costed plan.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for Growing Businesses — 1 day · v1.0   · 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0 · The hour-one win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· 45 min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 2–3 of your own documents into the instant tool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five questions. Then ask one thing about your company it can't know.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Flipchart: what worked, what failed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for Growing Businesses — 1 day · v1.0   · 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2 · How it actually works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for Growing Businesses — 1 day · v1.0   · 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a prediction machine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Autocomplete that has read most of the internet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Always produces a next word — that's the job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database inside. Nothing stored, nothing looked up.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663440" y="109728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when it doesn't know, it doesn't say so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produces the most plausible continuation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Fluent, confident, wrong — a hallucination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bug: the machine doing its job where that job is wrong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26280" y="1188720"/>
            <a:ext cx="0" cy="3291840"/>
          </a:xfrm>
          <a:prstGeom prst="line">
            <a:avLst/>
          </a:prstGeom>
          <a:noFill/>
          <a:ln w="12700">
            <a:solidFill>
              <a:srgbClr val="D9D6C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for Growing Businesses — 1 day · v1.0   · 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2 · The confident wrong answer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Closed-book: ask about your company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Open-book: same question with the right page on the desk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model. The difference is the library.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demos/02_hallucination.py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for Growing Businesses — 1 day · v1.0   · 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Tokens: the billing unit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Thing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Rule of thumb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 token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about ¾ of a word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 page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about 700 tokens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Output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costs ~5× input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Cached input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~90% off when the same prefix is sent again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Reasoning tokens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billed as output — buy deliberately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for Growing Businesses — 1 day · v1.0   · 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window = the desk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fits on the desk when the assistant answers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not paste everything in? Money · speed · accuracy · permissions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500-page handbook, 1,000 questions a day: ~$20,000/month pasted vs ~$300/month fetched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Fetch the right 8 pages first. That's RAG.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for Growing Businesses — 1 day · v1.0   · 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1 · What does one question cost?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+ context + history + question → input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 → output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tiers, with and without caching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two explosions: history and flagship-for-everything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demos/01_tokens_and_cost.py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for Growing Businesses — 1 day · v1.0   · 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1 · Cost one real feature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· 20 min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a feature from your business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Fill the token table: best / expected / worst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 the explosion most likely for you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for Growing Businesses — 1 day · v1.0   · 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4 · The RAG ladder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for Growing Businesses — 1 day · v1.0   · 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levels — and when each is right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Level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What it adds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You need it when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Cost / speed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Basic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fetch, answer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clean FAQ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1×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Advanced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rewriting, hybrid search, reranking, contextual chunks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real company documents — where most systems should live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1.1×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Hybrid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several stores + a router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documents AND a database AND live systems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1.3×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Agentic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the model decides, checks, retries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multi-step, cross-system questions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5–10×, 10× slower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for Growing Businesses — 1 day · v1.0   · 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quality is won: cutting the cards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Cut at headings and sections, never at word counts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idea per card, ~300–500 words, readable cold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 split a table; repeat the header row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where it came from on top of every card — the cheapest large improvement there is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for Growing Businesses — 1 day · v1.0   · 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3 · Basic vs Advanced, one change at a time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Fixed chunks → heading chunks + prefix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hybrid search (RRF)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reranking (drops the superseded draft)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a grounded answer, and a refusal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demos/03_rag_basic_vs_advanced.py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for Growing Businesses — 1 day · v1.0   ·  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most important sentence in your bot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 using ONLY the documents provided.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every fact, say which document it came from.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the documents don't contain the answer, say exactly: 'I could not find this in the available documents.'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turns a lie into a report — and a report into a number on a dashboard.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for Growing Businesses — 1 day · v1.0   ·  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2 · Build your grounded assistant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· 45 min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10–20 documents into the tool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 10 real questions — the 'before' number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on → re-score. Reranker on → re-score.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five of your chunks. Out loud.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for Growing Businesses — 1 day · v1.0   ·  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the answer is wrong — in this order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Was the right page fetched? No → library problem. Chunking, search. Rewriting instructions won't help.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Fetched but ignored? Strengthen the instruction, send fewer cards.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Fetched, used, still wrong? Now it's the prompt — or the card itself is wrong.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people start at 3. Almost every problem is at 1.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for Growing Businesses — 1 day · v1.0   ·  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6 · Agents that don't run away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for Growing Businesses — 1 day · v1.0   ·   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Vending machine vs librarian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built yesterday: press a button, one item drops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Wrong item? Nothing you can do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 → one search → answer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663440" y="109728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agent goes to the shelf, reads, thinks 'this only answers half', goes again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 → look → read → judge → answer or try again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when it isn't in the collection, it says so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26280" y="1188720"/>
            <a:ext cx="0" cy="3291840"/>
          </a:xfrm>
          <a:prstGeom prst="line">
            <a:avLst/>
          </a:prstGeom>
          <a:noFill/>
          <a:ln w="12700">
            <a:solidFill>
              <a:srgbClr val="D9D6C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for Growing Businesses — 1 day · v1.0   ·   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five safety rails — none optional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 iterations (5–10)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 cost per run · max wall-clock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Loop detection: same tool + same args twice → stop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required 'I give up' path that reports what it tried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approval for anything consequential or irreversible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for Growing Businesses — 1 day · v1.0   ·   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NOT to use an agent (most of the time)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a 15-person business, an agent is rarely the answer in year one.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wins are: a grounded assistant on your documents, one automated workflow, and everyone using AI tools properly.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 come when a workflow crosses three systems and nobody wants to babysit it.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for Growing Businesses — 1 day · v1.0   ·   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5 · An agent with rails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1: reads, checks policy, asks a human, acts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2: the human says no — the agent stops with a draft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3: the model repeats itself — loop detection ends it cleanly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demos/05_agent.py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for Growing Businesses — 1 day · v1.0   ·   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an agent is the wrong answer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Simple, high-volume questions where speed matters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Anything a script already does reliably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poor library — the agent fails five times instead of once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well-tuned Advanced bot: &lt; 1 s, fraction of a cent. An agent: ~12 s, 30× tokens — for the same answer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for Growing Businesses — 1 day · v1.0   ·   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Modules 7–10 · Money, strategy, ROI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for Growing Businesses — 1 day · v1.0   ·   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6 · Token optimisation and smart routing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→ caching → history trim → k=5 → output cap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All-cheap vs all-agentic vs routed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Sort your questions before you spend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demos/06_routing_economics.py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for Growing Businesses — 1 day · v1.0   ·   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controls in order of payoff</a:t>
            </a:r>
            <a:endParaRPr lang="en-US" sz="2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Control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Typical saving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Prompt caching — static parts first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up to 90% of input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Model routing / cascade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60–80%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Batch API for async work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50%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History trimming + output limits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30–50% on chat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Rerank the top 50, not 500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linear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Quantised indexes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4–32× storage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for Growing Businesses — 1 day · v1.0   ·   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Regular use vs strategic use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Regular: personal productivity — drafting, summarising, research. Table stakes.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Strategic: a workflow redesigned with AI in it, measured, owned, governed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value patterns: assist · automate · augment decisions · new products · risk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Prioritise on value × feasibility × risk × effort; quick wins first, strategic bets second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for Growing Businesses — 1 day · v1.0   ·   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ROI you can defend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Volume × minutes × loaded cost + error cost = what it costs today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 automation share = saving; − run cost = net; build ÷ net = payback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 per workflow: scripts · LLM · hybrid · agent · not yet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in the loop designed per approach, not bolted on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for Growing Businesses — 1 day · v1.0   ·   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that cost nothing to start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Walk the free/education tiers: NotebookLM, Dify cloud free, n8n cloud trial, ChatGPT/Claude/Gemini business seats and what they actually cost per month.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$42 bot.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the automation ROI engine on their workflow.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for Growing Businesses — 1 day · v1.0   ·   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7 · From numbers to a roadmap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workflows → approach, saving, payback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use cases → quadrants → three phases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demos/07_roi_and_plan.py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for Growing Businesses — 1 day · v1.0   ·   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quick start — 30 days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Inventory every AI system and tool in use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Risk-classify: prohibited · high · limited · minimal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One-page policy: approved tools, prohibited data, review gate, disclosure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review checkpoint before anything reaches customers or staff decisions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for Growing Businesses — 1 day · v1.0   ·   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5 · Your 90-day plan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· 40 min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workflow: outcome, approach, cost range, ROI, owner, gates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level and agent-or-not, with a reason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tier and human oversight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minutes to present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for Growing Businesses — 1 day · v1.0   ·   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things to remember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database inside — it predicts. That's why it invents.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Fetch the right pages first. Five right beat fifty mediocre.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it's wrong, look at what it fetched before blaming the model.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 amplify retrieval quality — good or bad. Earn your way up; cap everything.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is a design decision: cache, route, trim, tier.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for Growing Businesses — 1 day · v1.0   ·   33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for Growing Businesses — 1 day</dc:title>
  <dc:subject>PptxGenJS Presentation</dc:subject>
  <dc:creator>PptxGenJS</dc:creator>
  <cp:lastModifiedBy>PptxGenJS</cp:lastModifiedBy>
  <cp:revision>1</cp:revision>
  <dcterms:created xsi:type="dcterms:W3CDTF">2026-09-20T10:55:18Z</dcterms:created>
  <dcterms:modified xsi:type="dcterms:W3CDTF">2026-09-20T10:55:18Z</dcterms:modified>
</cp:coreProperties>
</file>